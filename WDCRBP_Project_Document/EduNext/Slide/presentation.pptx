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sap Bold" charset="1" panose="020F0804030202060203"/>
      <p:regular r:id="rId27"/>
    </p:embeddedFont>
    <p:embeddedFont>
      <p:font typeface="Asap" charset="1" panose="020F0504030202060203"/>
      <p:regular r:id="rId28"/>
    </p:embeddedFont>
    <p:embeddedFont>
      <p:font typeface="Asap Semi-Bold" charset="1" panose="020F0704030202060203"/>
      <p:regular r:id="rId29"/>
    </p:embeddedFont>
    <p:embeddedFont>
      <p:font typeface="Asap Medium" charset="1" panose="020F0604030202060203"/>
      <p:regular r:id="rId30"/>
    </p:embeddedFont>
    <p:embeddedFont>
      <p:font typeface="Telegraf" charset="1" panose="00000500000000000000"/>
      <p:regular r:id="rId31"/>
    </p:embeddedFont>
    <p:embeddedFont>
      <p:font typeface="Noto Sans Bold" charset="1" panose="020B0802040504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1543096" y="2467802"/>
            <a:ext cx="16230600" cy="7819198"/>
          </a:xfrm>
          <a:prstGeom prst="rect">
            <a:avLst/>
          </a:prstGeom>
          <a:solidFill>
            <a:srgbClr val="1836B2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9144000" y="0"/>
            <a:ext cx="12353301" cy="10697402"/>
            <a:chOff x="0" y="0"/>
            <a:chExt cx="4282440" cy="3708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4946" t="0" r="-14946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619798"/>
            <a:ext cx="1368165" cy="1368165"/>
          </a:xfrm>
          <a:custGeom>
            <a:avLst/>
            <a:gdLst/>
            <a:ahLst/>
            <a:cxnLst/>
            <a:rect r="r" b="b" t="t" l="l"/>
            <a:pathLst>
              <a:path h="1368165" w="1368165">
                <a:moveTo>
                  <a:pt x="0" y="0"/>
                </a:moveTo>
                <a:lnTo>
                  <a:pt x="1368165" y="0"/>
                </a:lnTo>
                <a:lnTo>
                  <a:pt x="1368165" y="1368165"/>
                </a:lnTo>
                <a:lnTo>
                  <a:pt x="0" y="13681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14243" y="979135"/>
            <a:ext cx="3165747" cy="573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6"/>
              </a:lnSpc>
              <a:spcBef>
                <a:spcPct val="0"/>
              </a:spcBef>
            </a:pPr>
            <a:r>
              <a:rPr lang="en-US" sz="3304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WD</a:t>
            </a:r>
            <a:r>
              <a:rPr lang="en-US" sz="3304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CRBP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4456000"/>
            <a:ext cx="7422802" cy="3327593"/>
            <a:chOff x="0" y="0"/>
            <a:chExt cx="9897069" cy="443679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76200"/>
              <a:ext cx="9897069" cy="3318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650"/>
                </a:lnSpc>
              </a:pPr>
              <a:r>
                <a:rPr lang="en-US" b="true" sz="5000" spc="150">
                  <a:solidFill>
                    <a:srgbClr val="FFFFFF"/>
                  </a:solidFill>
                  <a:latin typeface="Asap Bold"/>
                  <a:ea typeface="Asap Bold"/>
                  <a:cs typeface="Asap Bold"/>
                  <a:sym typeface="Asap Bold"/>
                </a:rPr>
                <a:t>WOODWORK DESIGN, CRAFTING &amp; REPAIR BOOKING PLATFORM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804543"/>
              <a:ext cx="9897069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FFFFFF"/>
                  </a:solidFill>
                  <a:latin typeface="Asap"/>
                  <a:ea typeface="Asap"/>
                  <a:cs typeface="Asap"/>
                  <a:sym typeface="Asap"/>
                </a:rPr>
                <a:t>SP25SE026_GSP48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41433" y="1593234"/>
            <a:ext cx="575615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  <a:spcBef>
                <a:spcPct val="0"/>
              </a:spcBef>
            </a:pPr>
            <a:r>
              <a:rPr lang="en-US" sz="2850" spc="-57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41433" y="3220607"/>
            <a:ext cx="513139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System design &amp; technologies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39524" y="4830076"/>
            <a:ext cx="513139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41433" y="6535889"/>
            <a:ext cx="598235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Limitation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39524" y="8176597"/>
            <a:ext cx="609007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Future plans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4584065" y="-2006328"/>
            <a:ext cx="13728065" cy="14299655"/>
            <a:chOff x="0" y="0"/>
            <a:chExt cx="5157365" cy="5372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57365" cy="5372100"/>
            </a:xfrm>
            <a:custGeom>
              <a:avLst/>
              <a:gdLst/>
              <a:ahLst/>
              <a:cxnLst/>
              <a:rect r="r" b="b" t="t" l="l"/>
              <a:pathLst>
                <a:path h="5372100" w="5157365">
                  <a:moveTo>
                    <a:pt x="3606695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3606695" y="5372100"/>
                  </a:lnTo>
                  <a:lnTo>
                    <a:pt x="5157365" y="2686050"/>
                  </a:lnTo>
                  <a:lnTo>
                    <a:pt x="3606695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983761"/>
            <a:ext cx="5816518" cy="264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40"/>
              </a:lnSpc>
            </a:pPr>
            <a:r>
              <a:rPr lang="en-US" b="true" sz="7925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Table</a:t>
            </a:r>
            <a:r>
              <a:rPr lang="en-US" b="true" sz="7925" u="none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 of content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025421" y="1506131"/>
            <a:ext cx="714076" cy="618457"/>
            <a:chOff x="0" y="0"/>
            <a:chExt cx="952102" cy="824609"/>
          </a:xfrm>
        </p:grpSpPr>
        <p:grpSp>
          <p:nvGrpSpPr>
            <p:cNvPr name="Group 11" id="11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25421" y="3146839"/>
            <a:ext cx="714076" cy="618457"/>
            <a:chOff x="0" y="0"/>
            <a:chExt cx="952102" cy="824609"/>
          </a:xfrm>
        </p:grpSpPr>
        <p:grpSp>
          <p:nvGrpSpPr>
            <p:cNvPr name="Group 15" id="15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25421" y="4787547"/>
            <a:ext cx="714076" cy="618457"/>
            <a:chOff x="0" y="0"/>
            <a:chExt cx="952102" cy="824609"/>
          </a:xfrm>
        </p:grpSpPr>
        <p:grpSp>
          <p:nvGrpSpPr>
            <p:cNvPr name="Group 19" id="19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03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025421" y="6428255"/>
            <a:ext cx="714076" cy="618457"/>
            <a:chOff x="0" y="0"/>
            <a:chExt cx="952102" cy="824609"/>
          </a:xfrm>
        </p:grpSpPr>
        <p:grpSp>
          <p:nvGrpSpPr>
            <p:cNvPr name="Group 23" id="23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25421" y="8068963"/>
            <a:ext cx="714076" cy="618457"/>
            <a:chOff x="0" y="0"/>
            <a:chExt cx="952102" cy="824609"/>
          </a:xfrm>
        </p:grpSpPr>
        <p:grpSp>
          <p:nvGrpSpPr>
            <p:cNvPr name="Group 27" id="27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4477" y="-3460546"/>
            <a:ext cx="12450234" cy="6921093"/>
            <a:chOff x="0" y="0"/>
            <a:chExt cx="9663778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63778" cy="5372100"/>
            </a:xfrm>
            <a:custGeom>
              <a:avLst/>
              <a:gdLst/>
              <a:ahLst/>
              <a:cxnLst/>
              <a:rect r="r" b="b" t="t" l="l"/>
              <a:pathLst>
                <a:path h="5372100" w="9663778">
                  <a:moveTo>
                    <a:pt x="8113108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8113108" y="5372100"/>
                  </a:lnTo>
                  <a:lnTo>
                    <a:pt x="9663778" y="2686050"/>
                  </a:lnTo>
                  <a:lnTo>
                    <a:pt x="8113108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60640" y="1028700"/>
            <a:ext cx="15039322" cy="1701967"/>
            <a:chOff x="0" y="0"/>
            <a:chExt cx="20052429" cy="2269289"/>
          </a:xfrm>
        </p:grpSpPr>
        <p:grpSp>
          <p:nvGrpSpPr>
            <p:cNvPr name="Group 5" id="5"/>
            <p:cNvGrpSpPr/>
            <p:nvPr/>
          </p:nvGrpSpPr>
          <p:grpSpPr>
            <a:xfrm rot="-10800000">
              <a:off x="0" y="0"/>
              <a:ext cx="20052429" cy="2269289"/>
              <a:chOff x="0" y="0"/>
              <a:chExt cx="47470215" cy="5372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7470216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47470216">
                    <a:moveTo>
                      <a:pt x="45919544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5919544" y="5372100"/>
                    </a:lnTo>
                    <a:lnTo>
                      <a:pt x="47470216" y="2686050"/>
                    </a:lnTo>
                    <a:lnTo>
                      <a:pt x="45919544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1161554" y="574786"/>
              <a:ext cx="16467657" cy="1171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6600"/>
                </a:lnSpc>
                <a:spcBef>
                  <a:spcPct val="0"/>
                </a:spcBef>
              </a:pPr>
              <a:r>
                <a:rPr lang="en-US" b="true" sz="6000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Member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392790" y="3500055"/>
            <a:ext cx="1502420" cy="2031397"/>
          </a:xfrm>
          <a:custGeom>
            <a:avLst/>
            <a:gdLst/>
            <a:ahLst/>
            <a:cxnLst/>
            <a:rect r="r" b="b" t="t" l="l"/>
            <a:pathLst>
              <a:path h="2031397" w="1502420">
                <a:moveTo>
                  <a:pt x="0" y="0"/>
                </a:moveTo>
                <a:lnTo>
                  <a:pt x="1502420" y="0"/>
                </a:lnTo>
                <a:lnTo>
                  <a:pt x="1502420" y="2031397"/>
                </a:lnTo>
                <a:lnTo>
                  <a:pt x="0" y="203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043603" y="6846246"/>
            <a:ext cx="2007589" cy="2030432"/>
          </a:xfrm>
          <a:custGeom>
            <a:avLst/>
            <a:gdLst/>
            <a:ahLst/>
            <a:cxnLst/>
            <a:rect r="r" b="b" t="t" l="l"/>
            <a:pathLst>
              <a:path h="2030432" w="2007589">
                <a:moveTo>
                  <a:pt x="0" y="0"/>
                </a:moveTo>
                <a:lnTo>
                  <a:pt x="2007589" y="0"/>
                </a:lnTo>
                <a:lnTo>
                  <a:pt x="2007589" y="2030432"/>
                </a:lnTo>
                <a:lnTo>
                  <a:pt x="0" y="2030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04068" y="6845281"/>
            <a:ext cx="1356616" cy="2030432"/>
          </a:xfrm>
          <a:custGeom>
            <a:avLst/>
            <a:gdLst/>
            <a:ahLst/>
            <a:cxnLst/>
            <a:rect r="r" b="b" t="t" l="l"/>
            <a:pathLst>
              <a:path h="2030432" w="1356616">
                <a:moveTo>
                  <a:pt x="0" y="0"/>
                </a:moveTo>
                <a:lnTo>
                  <a:pt x="1356616" y="0"/>
                </a:lnTo>
                <a:lnTo>
                  <a:pt x="1356616" y="2030431"/>
                </a:lnTo>
                <a:lnTo>
                  <a:pt x="0" y="20304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32143" y="6846246"/>
            <a:ext cx="1522824" cy="2030432"/>
          </a:xfrm>
          <a:custGeom>
            <a:avLst/>
            <a:gdLst/>
            <a:ahLst/>
            <a:cxnLst/>
            <a:rect r="r" b="b" t="t" l="l"/>
            <a:pathLst>
              <a:path h="2030432" w="1522824">
                <a:moveTo>
                  <a:pt x="0" y="0"/>
                </a:moveTo>
                <a:lnTo>
                  <a:pt x="1522823" y="0"/>
                </a:lnTo>
                <a:lnTo>
                  <a:pt x="1522823" y="2030432"/>
                </a:lnTo>
                <a:lnTo>
                  <a:pt x="0" y="2030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967513" y="5798152"/>
            <a:ext cx="2429727" cy="780428"/>
            <a:chOff x="0" y="0"/>
            <a:chExt cx="3239636" cy="104057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3239636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Võ Trọng Luân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25281"/>
              <a:ext cx="3239636" cy="415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9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Leader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832534" y="9086228"/>
            <a:ext cx="242972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Trần Việt Phúc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78691" y="9086228"/>
            <a:ext cx="242972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Lê Nguyên 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15543" y="9086228"/>
            <a:ext cx="400986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Nguyễn Đặng Phương Nam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661646" y="0"/>
            <a:ext cx="10736190" cy="9297057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37103" t="0" r="-3710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12015079" y="7254021"/>
            <a:ext cx="7156403" cy="4086071"/>
          </a:xfrm>
          <a:custGeom>
            <a:avLst/>
            <a:gdLst/>
            <a:ahLst/>
            <a:cxnLst/>
            <a:rect r="r" b="b" t="t" l="l"/>
            <a:pathLst>
              <a:path h="4086071" w="7156403">
                <a:moveTo>
                  <a:pt x="7156403" y="0"/>
                </a:moveTo>
                <a:lnTo>
                  <a:pt x="0" y="0"/>
                </a:lnTo>
                <a:lnTo>
                  <a:pt x="0" y="4086071"/>
                </a:lnTo>
                <a:lnTo>
                  <a:pt x="7156403" y="4086071"/>
                </a:lnTo>
                <a:lnTo>
                  <a:pt x="715640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1576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6178768" cy="24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89"/>
              </a:lnSpc>
            </a:pPr>
            <a:r>
              <a:rPr lang="en-US" b="true" sz="7925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Context and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581853"/>
            <a:ext cx="9632946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Demand for d</a:t>
            </a:r>
            <a:r>
              <a:rPr lang="en-US" sz="3000" u="non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urable, aesthetic custom wood products is skyrocketing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Customers waste time hunting for trusted workshops across scattered channels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Woodworkers struggle to showcase craftsmanship and gain visibility online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661646" y="0"/>
            <a:ext cx="10736190" cy="9297057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37103" t="0" r="-3710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12015079" y="7254021"/>
            <a:ext cx="7156403" cy="4086071"/>
          </a:xfrm>
          <a:custGeom>
            <a:avLst/>
            <a:gdLst/>
            <a:ahLst/>
            <a:cxnLst/>
            <a:rect r="r" b="b" t="t" l="l"/>
            <a:pathLst>
              <a:path h="4086071" w="7156403">
                <a:moveTo>
                  <a:pt x="7156403" y="0"/>
                </a:moveTo>
                <a:lnTo>
                  <a:pt x="0" y="0"/>
                </a:lnTo>
                <a:lnTo>
                  <a:pt x="0" y="4086071"/>
                </a:lnTo>
                <a:lnTo>
                  <a:pt x="7156403" y="4086071"/>
                </a:lnTo>
                <a:lnTo>
                  <a:pt x="715640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1576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6178768" cy="120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89"/>
              </a:lnSpc>
            </a:pPr>
            <a:r>
              <a:rPr lang="en-US" b="true" sz="7925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About 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5969" y="5640282"/>
            <a:ext cx="1063230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Easy to book and manage order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Provides variety of skilled woodworkers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Provides customization service (base on design idea), personalization service and guarantee/repair service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89182"/>
            <a:ext cx="8604166" cy="153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50"/>
              </a:lnSpc>
            </a:pPr>
            <a:r>
              <a:rPr lang="en-US" b="true" sz="5000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WDCRBP is an online platform for woodworking services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491446" cy="10287000"/>
          </a:xfrm>
          <a:custGeom>
            <a:avLst/>
            <a:gdLst/>
            <a:ahLst/>
            <a:cxnLst/>
            <a:rect r="r" b="b" t="t" l="l"/>
            <a:pathLst>
              <a:path h="10287000" w="5491446">
                <a:moveTo>
                  <a:pt x="0" y="0"/>
                </a:moveTo>
                <a:lnTo>
                  <a:pt x="5491446" y="0"/>
                </a:lnTo>
                <a:lnTo>
                  <a:pt x="54914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495" t="0" r="-9049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09028" y="2337092"/>
            <a:ext cx="3156619" cy="1893971"/>
          </a:xfrm>
          <a:custGeom>
            <a:avLst/>
            <a:gdLst/>
            <a:ahLst/>
            <a:cxnLst/>
            <a:rect r="r" b="b" t="t" l="l"/>
            <a:pathLst>
              <a:path h="1893971" w="3156619">
                <a:moveTo>
                  <a:pt x="0" y="0"/>
                </a:moveTo>
                <a:lnTo>
                  <a:pt x="3156619" y="0"/>
                </a:lnTo>
                <a:lnTo>
                  <a:pt x="3156619" y="1893971"/>
                </a:lnTo>
                <a:lnTo>
                  <a:pt x="0" y="1893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40818" y="2337092"/>
            <a:ext cx="3367060" cy="1893971"/>
          </a:xfrm>
          <a:custGeom>
            <a:avLst/>
            <a:gdLst/>
            <a:ahLst/>
            <a:cxnLst/>
            <a:rect r="r" b="b" t="t" l="l"/>
            <a:pathLst>
              <a:path h="1893971" w="3367060">
                <a:moveTo>
                  <a:pt x="0" y="0"/>
                </a:moveTo>
                <a:lnTo>
                  <a:pt x="3367060" y="0"/>
                </a:lnTo>
                <a:lnTo>
                  <a:pt x="3367060" y="1893971"/>
                </a:lnTo>
                <a:lnTo>
                  <a:pt x="0" y="18939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22253" y="2337092"/>
            <a:ext cx="3787942" cy="2004367"/>
          </a:xfrm>
          <a:custGeom>
            <a:avLst/>
            <a:gdLst/>
            <a:ahLst/>
            <a:cxnLst/>
            <a:rect r="r" b="b" t="t" l="l"/>
            <a:pathLst>
              <a:path h="2004367" w="3787942">
                <a:moveTo>
                  <a:pt x="0" y="0"/>
                </a:moveTo>
                <a:lnTo>
                  <a:pt x="3787942" y="0"/>
                </a:lnTo>
                <a:lnTo>
                  <a:pt x="3787942" y="2004367"/>
                </a:lnTo>
                <a:lnTo>
                  <a:pt x="0" y="20043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14" t="0" r="-291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43259" y="7416112"/>
            <a:ext cx="3156619" cy="1578309"/>
          </a:xfrm>
          <a:custGeom>
            <a:avLst/>
            <a:gdLst/>
            <a:ahLst/>
            <a:cxnLst/>
            <a:rect r="r" b="b" t="t" l="l"/>
            <a:pathLst>
              <a:path h="1578309" w="3156619">
                <a:moveTo>
                  <a:pt x="0" y="0"/>
                </a:moveTo>
                <a:lnTo>
                  <a:pt x="3156619" y="0"/>
                </a:lnTo>
                <a:lnTo>
                  <a:pt x="3156619" y="1578309"/>
                </a:lnTo>
                <a:lnTo>
                  <a:pt x="0" y="15783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98892" y="7468659"/>
            <a:ext cx="5381610" cy="1473216"/>
          </a:xfrm>
          <a:custGeom>
            <a:avLst/>
            <a:gdLst/>
            <a:ahLst/>
            <a:cxnLst/>
            <a:rect r="r" b="b" t="t" l="l"/>
            <a:pathLst>
              <a:path h="1473216" w="5381610">
                <a:moveTo>
                  <a:pt x="0" y="0"/>
                </a:moveTo>
                <a:lnTo>
                  <a:pt x="5381611" y="0"/>
                </a:lnTo>
                <a:lnTo>
                  <a:pt x="5381611" y="1473216"/>
                </a:lnTo>
                <a:lnTo>
                  <a:pt x="0" y="14732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209262" y="627783"/>
            <a:ext cx="5230173" cy="113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17"/>
              </a:lnSpc>
              <a:spcBef>
                <a:spcPct val="0"/>
              </a:spcBef>
            </a:pPr>
            <a:r>
              <a:rPr lang="en-US" b="true" sz="7925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Technology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58378" y="4386733"/>
            <a:ext cx="1457920" cy="46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7271"/>
                </a:solidFill>
                <a:latin typeface="Telegraf"/>
                <a:ea typeface="Telegraf"/>
                <a:cs typeface="Telegraf"/>
                <a:sym typeface="Telegraf"/>
              </a:rPr>
              <a:t>Back-end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65671" y="4386733"/>
            <a:ext cx="1701105" cy="46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7271"/>
                </a:solidFill>
                <a:latin typeface="Telegraf"/>
                <a:ea typeface="Telegraf"/>
                <a:cs typeface="Telegraf"/>
                <a:sym typeface="Telegraf"/>
              </a:rPr>
              <a:t>Mobile-app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58925" y="4386733"/>
            <a:ext cx="1530846" cy="46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7271"/>
                </a:solidFill>
                <a:latin typeface="Telegraf"/>
                <a:ea typeface="Telegraf"/>
                <a:cs typeface="Telegraf"/>
                <a:sym typeface="Telegraf"/>
              </a:rPr>
              <a:t>Front-end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70348" y="6033496"/>
            <a:ext cx="3308000" cy="113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17"/>
              </a:lnSpc>
              <a:spcBef>
                <a:spcPct val="0"/>
              </a:spcBef>
            </a:pPr>
            <a:r>
              <a:rPr lang="en-US" b="true" sz="7925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Deploy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96554" y="0"/>
            <a:ext cx="5491446" cy="10287000"/>
          </a:xfrm>
          <a:custGeom>
            <a:avLst/>
            <a:gdLst/>
            <a:ahLst/>
            <a:cxnLst/>
            <a:rect r="r" b="b" t="t" l="l"/>
            <a:pathLst>
              <a:path h="10287000" w="5491446">
                <a:moveTo>
                  <a:pt x="0" y="0"/>
                </a:moveTo>
                <a:lnTo>
                  <a:pt x="5491446" y="0"/>
                </a:lnTo>
                <a:lnTo>
                  <a:pt x="54914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495" t="0" r="-9049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0699" y="2089467"/>
            <a:ext cx="9712056" cy="7332602"/>
          </a:xfrm>
          <a:custGeom>
            <a:avLst/>
            <a:gdLst/>
            <a:ahLst/>
            <a:cxnLst/>
            <a:rect r="r" b="b" t="t" l="l"/>
            <a:pathLst>
              <a:path h="7332602" w="9712056">
                <a:moveTo>
                  <a:pt x="0" y="0"/>
                </a:moveTo>
                <a:lnTo>
                  <a:pt x="9712055" y="0"/>
                </a:lnTo>
                <a:lnTo>
                  <a:pt x="9712055" y="7332602"/>
                </a:lnTo>
                <a:lnTo>
                  <a:pt x="0" y="7332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46685" y="595535"/>
            <a:ext cx="6520083" cy="113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17"/>
              </a:lnSpc>
              <a:spcBef>
                <a:spcPct val="0"/>
              </a:spcBef>
            </a:pPr>
            <a:r>
              <a:rPr lang="en-US" b="true" sz="7925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System design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661646" y="0"/>
            <a:ext cx="10736190" cy="9297057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4987" t="0" r="-1498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12015079" y="7254021"/>
            <a:ext cx="7156403" cy="4086071"/>
          </a:xfrm>
          <a:custGeom>
            <a:avLst/>
            <a:gdLst/>
            <a:ahLst/>
            <a:cxnLst/>
            <a:rect r="r" b="b" t="t" l="l"/>
            <a:pathLst>
              <a:path h="4086071" w="7156403">
                <a:moveTo>
                  <a:pt x="7156403" y="0"/>
                </a:moveTo>
                <a:lnTo>
                  <a:pt x="0" y="0"/>
                </a:lnTo>
                <a:lnTo>
                  <a:pt x="0" y="4086071"/>
                </a:lnTo>
                <a:lnTo>
                  <a:pt x="7156403" y="4086071"/>
                </a:lnTo>
                <a:lnTo>
                  <a:pt x="715640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1576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6178768" cy="120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89"/>
              </a:lnSpc>
            </a:pPr>
            <a:r>
              <a:rPr lang="en-US" b="true" sz="7925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Actor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534228"/>
            <a:ext cx="9632946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Who provides services and receives requests from customers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98707"/>
            <a:ext cx="8604166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59"/>
              </a:lnSpc>
            </a:pPr>
            <a:r>
              <a:rPr lang="en-US" b="true" sz="6000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Woodworker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7052" y="1694039"/>
            <a:ext cx="1302224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  <a:spcBef>
                <a:spcPct val="0"/>
              </a:spcBef>
            </a:pPr>
            <a:r>
              <a:rPr lang="en-US" b="true" sz="2850" spc="-57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Upgrade your service pack to access additional benefits offered by the platform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37052" y="3321411"/>
            <a:ext cx="934233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Create and manage design idea for customization service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35144" y="4930880"/>
            <a:ext cx="718043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Create and manage product for sale service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35144" y="6571588"/>
            <a:ext cx="780457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Manage and process customers’ service orders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8117618" y="-2006328"/>
            <a:ext cx="10820225" cy="14299655"/>
            <a:chOff x="0" y="0"/>
            <a:chExt cx="4064946" cy="5372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946" cy="5372100"/>
            </a:xfrm>
            <a:custGeom>
              <a:avLst/>
              <a:gdLst/>
              <a:ahLst/>
              <a:cxnLst/>
              <a:rect r="r" b="b" t="t" l="l"/>
              <a:pathLst>
                <a:path h="5372100" w="4064946">
                  <a:moveTo>
                    <a:pt x="2514276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514276" y="5372100"/>
                  </a:lnTo>
                  <a:lnTo>
                    <a:pt x="4064946" y="2686050"/>
                  </a:lnTo>
                  <a:lnTo>
                    <a:pt x="2514276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021041" y="1606936"/>
            <a:ext cx="714076" cy="618457"/>
            <a:chOff x="0" y="0"/>
            <a:chExt cx="952102" cy="824609"/>
          </a:xfrm>
        </p:grpSpPr>
        <p:grpSp>
          <p:nvGrpSpPr>
            <p:cNvPr name="Group 9" id="9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21041" y="3247644"/>
            <a:ext cx="714076" cy="618457"/>
            <a:chOff x="0" y="0"/>
            <a:chExt cx="952102" cy="824609"/>
          </a:xfrm>
        </p:grpSpPr>
        <p:grpSp>
          <p:nvGrpSpPr>
            <p:cNvPr name="Group 13" id="13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21041" y="4888351"/>
            <a:ext cx="714076" cy="618457"/>
            <a:chOff x="0" y="0"/>
            <a:chExt cx="952102" cy="824609"/>
          </a:xfrm>
        </p:grpSpPr>
        <p:grpSp>
          <p:nvGrpSpPr>
            <p:cNvPr name="Group 17" id="17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021041" y="6529059"/>
            <a:ext cx="714076" cy="618457"/>
            <a:chOff x="0" y="0"/>
            <a:chExt cx="952102" cy="824609"/>
          </a:xfrm>
        </p:grpSpPr>
        <p:grpSp>
          <p:nvGrpSpPr>
            <p:cNvPr name="Group 21" id="21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021041" y="8166691"/>
            <a:ext cx="714076" cy="618457"/>
            <a:chOff x="0" y="0"/>
            <a:chExt cx="952102" cy="824609"/>
          </a:xfrm>
        </p:grpSpPr>
        <p:grpSp>
          <p:nvGrpSpPr>
            <p:cNvPr name="Group 25" id="25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05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235144" y="8209220"/>
            <a:ext cx="999871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Manage and process customers’ guarantee/repair orders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661646" y="0"/>
            <a:ext cx="10736190" cy="9297057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4987" t="0" r="-1498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12015079" y="7254021"/>
            <a:ext cx="7156403" cy="4086071"/>
          </a:xfrm>
          <a:custGeom>
            <a:avLst/>
            <a:gdLst/>
            <a:ahLst/>
            <a:cxnLst/>
            <a:rect r="r" b="b" t="t" l="l"/>
            <a:pathLst>
              <a:path h="4086071" w="7156403">
                <a:moveTo>
                  <a:pt x="7156403" y="0"/>
                </a:moveTo>
                <a:lnTo>
                  <a:pt x="0" y="0"/>
                </a:lnTo>
                <a:lnTo>
                  <a:pt x="0" y="4086071"/>
                </a:lnTo>
                <a:lnTo>
                  <a:pt x="7156403" y="4086071"/>
                </a:lnTo>
                <a:lnTo>
                  <a:pt x="715640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1576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6178768" cy="120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89"/>
              </a:lnSpc>
            </a:pPr>
            <a:r>
              <a:rPr lang="en-US" b="true" sz="7925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Actor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534228"/>
            <a:ext cx="9632946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Who uses the services provided by the woodworker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98707"/>
            <a:ext cx="8604166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59"/>
              </a:lnSpc>
            </a:pPr>
            <a:r>
              <a:rPr lang="en-US" b="true" sz="6000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Customer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17221" y="1641497"/>
            <a:ext cx="1302224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  <a:spcBef>
                <a:spcPct val="0"/>
              </a:spcBef>
            </a:pPr>
            <a:r>
              <a:rPr lang="en-US" b="true" sz="2850" spc="-57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Order a customization service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7221" y="3268870"/>
            <a:ext cx="934233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Order a personalization service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15312" y="4878338"/>
            <a:ext cx="718043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Request a guarantee/repair service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15312" y="6519046"/>
            <a:ext cx="780457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Review and rates orders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8117618" y="-2006328"/>
            <a:ext cx="12001135" cy="14299655"/>
            <a:chOff x="0" y="0"/>
            <a:chExt cx="4508591" cy="5372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08591" cy="5372100"/>
            </a:xfrm>
            <a:custGeom>
              <a:avLst/>
              <a:gdLst/>
              <a:ahLst/>
              <a:cxnLst/>
              <a:rect r="r" b="b" t="t" l="l"/>
              <a:pathLst>
                <a:path h="5372100" w="4508591">
                  <a:moveTo>
                    <a:pt x="2957921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957921" y="5372100"/>
                  </a:lnTo>
                  <a:lnTo>
                    <a:pt x="4508591" y="2686050"/>
                  </a:lnTo>
                  <a:lnTo>
                    <a:pt x="2957921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01209" y="1554394"/>
            <a:ext cx="714076" cy="618457"/>
            <a:chOff x="0" y="0"/>
            <a:chExt cx="952102" cy="824609"/>
          </a:xfrm>
        </p:grpSpPr>
        <p:grpSp>
          <p:nvGrpSpPr>
            <p:cNvPr name="Group 9" id="9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01209" y="3195102"/>
            <a:ext cx="714076" cy="618457"/>
            <a:chOff x="0" y="0"/>
            <a:chExt cx="952102" cy="824609"/>
          </a:xfrm>
        </p:grpSpPr>
        <p:grpSp>
          <p:nvGrpSpPr>
            <p:cNvPr name="Group 13" id="13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501209" y="4835809"/>
            <a:ext cx="714076" cy="618457"/>
            <a:chOff x="0" y="0"/>
            <a:chExt cx="952102" cy="824609"/>
          </a:xfrm>
        </p:grpSpPr>
        <p:grpSp>
          <p:nvGrpSpPr>
            <p:cNvPr name="Group 17" id="17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501209" y="6476517"/>
            <a:ext cx="714076" cy="618457"/>
            <a:chOff x="0" y="0"/>
            <a:chExt cx="952102" cy="824609"/>
          </a:xfrm>
        </p:grpSpPr>
        <p:grpSp>
          <p:nvGrpSpPr>
            <p:cNvPr name="Group 21" id="21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501209" y="8114149"/>
            <a:ext cx="714076" cy="618457"/>
            <a:chOff x="0" y="0"/>
            <a:chExt cx="952102" cy="824609"/>
          </a:xfrm>
        </p:grpSpPr>
        <p:grpSp>
          <p:nvGrpSpPr>
            <p:cNvPr name="Group 25" id="25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05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715312" y="8156678"/>
            <a:ext cx="999871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File a complaint to request a refund for an order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661646" y="0"/>
            <a:ext cx="10736190" cy="9297057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4987" t="0" r="-1498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12015079" y="7254021"/>
            <a:ext cx="7156403" cy="4086071"/>
          </a:xfrm>
          <a:custGeom>
            <a:avLst/>
            <a:gdLst/>
            <a:ahLst/>
            <a:cxnLst/>
            <a:rect r="r" b="b" t="t" l="l"/>
            <a:pathLst>
              <a:path h="4086071" w="7156403">
                <a:moveTo>
                  <a:pt x="7156403" y="0"/>
                </a:moveTo>
                <a:lnTo>
                  <a:pt x="0" y="0"/>
                </a:lnTo>
                <a:lnTo>
                  <a:pt x="0" y="4086071"/>
                </a:lnTo>
                <a:lnTo>
                  <a:pt x="7156403" y="4086071"/>
                </a:lnTo>
                <a:lnTo>
                  <a:pt x="715640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1576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6178768" cy="120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89"/>
              </a:lnSpc>
            </a:pPr>
            <a:r>
              <a:rPr lang="en-US" b="true" sz="7925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Actor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534228"/>
            <a:ext cx="8115300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Is the administrator of the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98707"/>
            <a:ext cx="8604166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59"/>
              </a:lnSpc>
            </a:pPr>
            <a:r>
              <a:rPr lang="en-US" b="true" sz="6000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Admin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46183" y="1641497"/>
            <a:ext cx="1302224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  <a:spcBef>
                <a:spcPct val="0"/>
              </a:spcBef>
            </a:pPr>
            <a:r>
              <a:rPr lang="en-US" b="true" sz="2850" spc="-57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Manage users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46183" y="3268870"/>
            <a:ext cx="934233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Manage woodworker applications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44274" y="4878338"/>
            <a:ext cx="718043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Manage transactions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44274" y="6519046"/>
            <a:ext cx="780457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Manage complaints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8117618" y="-2006328"/>
            <a:ext cx="11997764" cy="14299655"/>
            <a:chOff x="0" y="0"/>
            <a:chExt cx="4507325" cy="5372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07324" cy="5372100"/>
            </a:xfrm>
            <a:custGeom>
              <a:avLst/>
              <a:gdLst/>
              <a:ahLst/>
              <a:cxnLst/>
              <a:rect r="r" b="b" t="t" l="l"/>
              <a:pathLst>
                <a:path h="5372100" w="4507324">
                  <a:moveTo>
                    <a:pt x="2956655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956655" y="5372100"/>
                  </a:lnTo>
                  <a:lnTo>
                    <a:pt x="4507324" y="2686050"/>
                  </a:lnTo>
                  <a:lnTo>
                    <a:pt x="2956655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30172" y="1554394"/>
            <a:ext cx="714076" cy="618457"/>
            <a:chOff x="0" y="0"/>
            <a:chExt cx="952102" cy="824609"/>
          </a:xfrm>
        </p:grpSpPr>
        <p:grpSp>
          <p:nvGrpSpPr>
            <p:cNvPr name="Group 9" id="9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730172" y="3195102"/>
            <a:ext cx="714076" cy="618457"/>
            <a:chOff x="0" y="0"/>
            <a:chExt cx="952102" cy="824609"/>
          </a:xfrm>
        </p:grpSpPr>
        <p:grpSp>
          <p:nvGrpSpPr>
            <p:cNvPr name="Group 13" id="13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730172" y="4835809"/>
            <a:ext cx="714076" cy="618457"/>
            <a:chOff x="0" y="0"/>
            <a:chExt cx="952102" cy="824609"/>
          </a:xfrm>
        </p:grpSpPr>
        <p:grpSp>
          <p:nvGrpSpPr>
            <p:cNvPr name="Group 17" id="17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30172" y="6476517"/>
            <a:ext cx="714076" cy="618457"/>
            <a:chOff x="0" y="0"/>
            <a:chExt cx="952102" cy="824609"/>
          </a:xfrm>
        </p:grpSpPr>
        <p:grpSp>
          <p:nvGrpSpPr>
            <p:cNvPr name="Group 21" id="21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730172" y="8114149"/>
            <a:ext cx="714076" cy="618457"/>
            <a:chOff x="0" y="0"/>
            <a:chExt cx="952102" cy="824609"/>
          </a:xfrm>
        </p:grpSpPr>
        <p:grpSp>
          <p:nvGrpSpPr>
            <p:cNvPr name="Group 25" id="25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05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944274" y="8156678"/>
            <a:ext cx="999871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View statistics through charts &amp; system config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25421" y="704103"/>
            <a:ext cx="5756151" cy="140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  <a:spcBef>
                <a:spcPct val="0"/>
              </a:spcBef>
            </a:pPr>
            <a:r>
              <a:rPr lang="en-US" sz="2850" spc="-57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accesses the system, registers as a woodworker, and manages design ideas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41433" y="2477657"/>
            <a:ext cx="5131393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Customer places a customization service order and completes the order process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41433" y="4830332"/>
            <a:ext cx="5131393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Customer places a personalization service order and completes the order process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25421" y="7288449"/>
            <a:ext cx="5982357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Customer places a guarantee/repair order and completes the order process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584065" y="-2006328"/>
            <a:ext cx="11407210" cy="14299655"/>
            <a:chOff x="0" y="0"/>
            <a:chExt cx="4285465" cy="5372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5465" cy="5372100"/>
            </a:xfrm>
            <a:custGeom>
              <a:avLst/>
              <a:gdLst/>
              <a:ahLst/>
              <a:cxnLst/>
              <a:rect r="r" b="b" t="t" l="l"/>
              <a:pathLst>
                <a:path h="5372100" w="4285465">
                  <a:moveTo>
                    <a:pt x="2734795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734795" y="5372100"/>
                  </a:lnTo>
                  <a:lnTo>
                    <a:pt x="4285465" y="2686050"/>
                  </a:lnTo>
                  <a:lnTo>
                    <a:pt x="2734795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59625" y="3382532"/>
            <a:ext cx="5105626" cy="130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40"/>
              </a:lnSpc>
            </a:pPr>
            <a:r>
              <a:rPr lang="en-US" b="true" sz="7925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Demo flow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080922" y="805735"/>
            <a:ext cx="714076" cy="618457"/>
            <a:chOff x="0" y="0"/>
            <a:chExt cx="952102" cy="824609"/>
          </a:xfrm>
        </p:grpSpPr>
        <p:grpSp>
          <p:nvGrpSpPr>
            <p:cNvPr name="Group 10" id="10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11345" y="3000479"/>
            <a:ext cx="714076" cy="618457"/>
            <a:chOff x="0" y="0"/>
            <a:chExt cx="952102" cy="824609"/>
          </a:xfrm>
        </p:grpSpPr>
        <p:grpSp>
          <p:nvGrpSpPr>
            <p:cNvPr name="Group 14" id="14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11345" y="5142936"/>
            <a:ext cx="714076" cy="618457"/>
            <a:chOff x="0" y="0"/>
            <a:chExt cx="952102" cy="824609"/>
          </a:xfrm>
        </p:grpSpPr>
        <p:grpSp>
          <p:nvGrpSpPr>
            <p:cNvPr name="Group 18" id="18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080922" y="7326549"/>
            <a:ext cx="714076" cy="618457"/>
            <a:chOff x="0" y="0"/>
            <a:chExt cx="952102" cy="824609"/>
          </a:xfrm>
        </p:grpSpPr>
        <p:grpSp>
          <p:nvGrpSpPr>
            <p:cNvPr name="Group 22" id="22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04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182559" y="8146493"/>
            <a:ext cx="399801" cy="40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314" spc="-46">
                <a:solidFill>
                  <a:srgbClr val="FFFFFF"/>
                </a:solidFill>
                <a:latin typeface="Asap Medium"/>
                <a:ea typeface="Asap Medium"/>
                <a:cs typeface="Asap Medium"/>
                <a:sym typeface="Asap Medium"/>
              </a:rPr>
              <a:t>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9625" y="5103645"/>
            <a:ext cx="5168352" cy="132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9"/>
              </a:lnSpc>
            </a:pPr>
            <a:r>
              <a:rPr lang="en-US" b="true" sz="3999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Exploring critical flows for project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4773" y="3357974"/>
            <a:ext cx="714076" cy="618457"/>
            <a:chOff x="0" y="0"/>
            <a:chExt cx="952102" cy="824609"/>
          </a:xfrm>
        </p:grpSpPr>
        <p:grpSp>
          <p:nvGrpSpPr>
            <p:cNvPr name="Group 3" id="3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0868" y="3357974"/>
            <a:ext cx="714076" cy="618457"/>
            <a:chOff x="0" y="0"/>
            <a:chExt cx="952102" cy="824609"/>
          </a:xfrm>
        </p:grpSpPr>
        <p:grpSp>
          <p:nvGrpSpPr>
            <p:cNvPr name="Group 7" id="7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86962" y="3357974"/>
            <a:ext cx="714076" cy="618457"/>
            <a:chOff x="0" y="0"/>
            <a:chExt cx="952102" cy="824609"/>
          </a:xfrm>
        </p:grpSpPr>
        <p:grpSp>
          <p:nvGrpSpPr>
            <p:cNvPr name="Group 11" id="11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37645" y="3357974"/>
            <a:ext cx="714076" cy="618457"/>
            <a:chOff x="0" y="0"/>
            <a:chExt cx="952102" cy="824609"/>
          </a:xfrm>
        </p:grpSpPr>
        <p:grpSp>
          <p:nvGrpSpPr>
            <p:cNvPr name="Group 15" id="15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483739" y="3357974"/>
            <a:ext cx="714076" cy="618457"/>
            <a:chOff x="0" y="0"/>
            <a:chExt cx="952102" cy="824609"/>
          </a:xfrm>
        </p:grpSpPr>
        <p:grpSp>
          <p:nvGrpSpPr>
            <p:cNvPr name="Group 19" id="19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05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2451812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5797906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9144000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2494683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5840777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0">
            <a:off x="-179299" y="9979101"/>
            <a:ext cx="18646597" cy="498399"/>
          </a:xfrm>
          <a:prstGeom prst="rect">
            <a:avLst/>
          </a:prstGeom>
          <a:solidFill>
            <a:srgbClr val="1836B2"/>
          </a:solidFill>
        </p:spPr>
      </p:sp>
      <p:sp>
        <p:nvSpPr>
          <p:cNvPr name="TextBox 28" id="28"/>
          <p:cNvSpPr txBox="true"/>
          <p:nvPr/>
        </p:nvSpPr>
        <p:spPr>
          <a:xfrm rot="0">
            <a:off x="1102614" y="5703411"/>
            <a:ext cx="2698394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submits a registration request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48709" y="5703411"/>
            <a:ext cx="2698394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Admin approves the registration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94803" y="5703411"/>
            <a:ext cx="2698394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deposits money and upgrades service pack and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45486" y="5703411"/>
            <a:ext cx="2698394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creates design idea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491580" y="5703411"/>
            <a:ext cx="2698394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updates the warranty policy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19094" y="723551"/>
            <a:ext cx="444981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Phase 1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82999" y="3357974"/>
            <a:ext cx="714076" cy="618457"/>
            <a:chOff x="0" y="0"/>
            <a:chExt cx="952102" cy="824609"/>
          </a:xfrm>
        </p:grpSpPr>
        <p:grpSp>
          <p:nvGrpSpPr>
            <p:cNvPr name="Group 3" id="3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86243" y="3357974"/>
            <a:ext cx="714076" cy="618457"/>
            <a:chOff x="0" y="0"/>
            <a:chExt cx="952102" cy="824609"/>
          </a:xfrm>
        </p:grpSpPr>
        <p:grpSp>
          <p:nvGrpSpPr>
            <p:cNvPr name="Group 7" id="7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86962" y="3330543"/>
            <a:ext cx="714076" cy="618457"/>
            <a:chOff x="0" y="0"/>
            <a:chExt cx="952102" cy="824609"/>
          </a:xfrm>
        </p:grpSpPr>
        <p:grpSp>
          <p:nvGrpSpPr>
            <p:cNvPr name="Group 11" id="11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90206" y="3357974"/>
            <a:ext cx="714076" cy="618457"/>
            <a:chOff x="0" y="0"/>
            <a:chExt cx="952102" cy="824609"/>
          </a:xfrm>
        </p:grpSpPr>
        <p:grpSp>
          <p:nvGrpSpPr>
            <p:cNvPr name="Group 15" id="15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593450" y="3357974"/>
            <a:ext cx="714076" cy="618457"/>
            <a:chOff x="0" y="0"/>
            <a:chExt cx="952102" cy="824609"/>
          </a:xfrm>
        </p:grpSpPr>
        <p:grpSp>
          <p:nvGrpSpPr>
            <p:cNvPr name="Group 19" id="19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05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2340037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5400000">
            <a:off x="5285322" y="4873977"/>
            <a:ext cx="915917" cy="0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9144000" y="4417163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2547244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5950488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0">
            <a:off x="-179299" y="9979101"/>
            <a:ext cx="18646597" cy="498399"/>
          </a:xfrm>
          <a:prstGeom prst="rect">
            <a:avLst/>
          </a:prstGeom>
          <a:solidFill>
            <a:srgbClr val="1836B2"/>
          </a:solidFill>
        </p:spPr>
      </p:sp>
      <p:sp>
        <p:nvSpPr>
          <p:cNvPr name="TextBox 28" id="28"/>
          <p:cNvSpPr txBox="true"/>
          <p:nvPr/>
        </p:nvSpPr>
        <p:spPr>
          <a:xfrm rot="0">
            <a:off x="990840" y="5703411"/>
            <a:ext cx="2698394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Customer places an order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394084" y="5703411"/>
            <a:ext cx="2698394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updates the consultation appointment, and the customer confirms it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94803" y="5675980"/>
            <a:ext cx="2698394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updates the contract, and the customer confirms it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98047" y="5703411"/>
            <a:ext cx="2698394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uploads images of the finished products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601291" y="5703411"/>
            <a:ext cx="2698394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Customer confirms receipt of the products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19094" y="723551"/>
            <a:ext cx="444981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Phase 2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495" y="3377024"/>
            <a:ext cx="714076" cy="618457"/>
            <a:chOff x="0" y="0"/>
            <a:chExt cx="952102" cy="824609"/>
          </a:xfrm>
        </p:grpSpPr>
        <p:grpSp>
          <p:nvGrpSpPr>
            <p:cNvPr name="Group 3" id="3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232315" y="3357974"/>
            <a:ext cx="714076" cy="618457"/>
            <a:chOff x="0" y="0"/>
            <a:chExt cx="952102" cy="824609"/>
          </a:xfrm>
        </p:grpSpPr>
        <p:grpSp>
          <p:nvGrpSpPr>
            <p:cNvPr name="Group 7" id="7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83134" y="3377024"/>
            <a:ext cx="714076" cy="618457"/>
            <a:chOff x="0" y="0"/>
            <a:chExt cx="952102" cy="824609"/>
          </a:xfrm>
        </p:grpSpPr>
        <p:grpSp>
          <p:nvGrpSpPr>
            <p:cNvPr name="Group 11" id="11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79699" y="3357974"/>
            <a:ext cx="714076" cy="618457"/>
            <a:chOff x="0" y="0"/>
            <a:chExt cx="952102" cy="824609"/>
          </a:xfrm>
        </p:grpSpPr>
        <p:grpSp>
          <p:nvGrpSpPr>
            <p:cNvPr name="Group 15" id="15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430519" y="3377024"/>
            <a:ext cx="714076" cy="618457"/>
            <a:chOff x="0" y="0"/>
            <a:chExt cx="952102" cy="824609"/>
          </a:xfrm>
        </p:grpSpPr>
        <p:grpSp>
          <p:nvGrpSpPr>
            <p:cNvPr name="Group 19" id="19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06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538534" y="446364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4589353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7640172" y="446364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3736738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6787557" y="446364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0">
            <a:off x="-179299" y="9979101"/>
            <a:ext cx="18646597" cy="498399"/>
          </a:xfrm>
          <a:prstGeom prst="rect">
            <a:avLst/>
          </a:prstGeom>
          <a:solidFill>
            <a:srgbClr val="1836B2"/>
          </a:solidFill>
        </p:spPr>
      </p:sp>
      <p:sp>
        <p:nvSpPr>
          <p:cNvPr name="TextBox 28" id="28"/>
          <p:cNvSpPr txBox="true"/>
          <p:nvPr/>
        </p:nvSpPr>
        <p:spPr>
          <a:xfrm rot="0">
            <a:off x="189337" y="5722461"/>
            <a:ext cx="2698394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Customer places an order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40156" y="5703411"/>
            <a:ext cx="2698394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updates the consultation appointment, and the customer confirms it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90975" y="5722461"/>
            <a:ext cx="2698394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updates the contract, and the customer confirms it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87541" y="5703411"/>
            <a:ext cx="2698394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uploads images of the finished products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438360" y="5722461"/>
            <a:ext cx="2698394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Customer confirms receipt of the products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331417" y="3377024"/>
            <a:ext cx="714076" cy="618457"/>
            <a:chOff x="0" y="0"/>
            <a:chExt cx="952102" cy="824609"/>
          </a:xfrm>
        </p:grpSpPr>
        <p:grpSp>
          <p:nvGrpSpPr>
            <p:cNvPr name="Group 34" id="34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04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10688455" y="446364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9339258" y="5722461"/>
            <a:ext cx="2698394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uploads design files for the requested products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919094" y="723551"/>
            <a:ext cx="444981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Phase 3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6673" y="3357974"/>
            <a:ext cx="714076" cy="618457"/>
            <a:chOff x="0" y="0"/>
            <a:chExt cx="952102" cy="824609"/>
          </a:xfrm>
        </p:grpSpPr>
        <p:grpSp>
          <p:nvGrpSpPr>
            <p:cNvPr name="Group 3" id="3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21818" y="3357974"/>
            <a:ext cx="714076" cy="618457"/>
            <a:chOff x="0" y="0"/>
            <a:chExt cx="952102" cy="824609"/>
          </a:xfrm>
        </p:grpSpPr>
        <p:grpSp>
          <p:nvGrpSpPr>
            <p:cNvPr name="Group 7" id="7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86962" y="3357974"/>
            <a:ext cx="714076" cy="618457"/>
            <a:chOff x="0" y="0"/>
            <a:chExt cx="952102" cy="824609"/>
          </a:xfrm>
        </p:grpSpPr>
        <p:grpSp>
          <p:nvGrpSpPr>
            <p:cNvPr name="Group 11" id="11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52106" y="3357974"/>
            <a:ext cx="714076" cy="618457"/>
            <a:chOff x="0" y="0"/>
            <a:chExt cx="952102" cy="824609"/>
          </a:xfrm>
        </p:grpSpPr>
        <p:grpSp>
          <p:nvGrpSpPr>
            <p:cNvPr name="Group 15" id="15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517250" y="3357974"/>
            <a:ext cx="714076" cy="618457"/>
            <a:chOff x="0" y="0"/>
            <a:chExt cx="952102" cy="824609"/>
          </a:xfrm>
        </p:grpSpPr>
        <p:grpSp>
          <p:nvGrpSpPr>
            <p:cNvPr name="Group 19" id="19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202680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620268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209517" y="122424"/>
              <a:ext cx="533068" cy="522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05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2413712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5778856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9144000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2509144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5874288" y="4444594"/>
            <a:ext cx="0" cy="915917"/>
          </a:xfrm>
          <a:prstGeom prst="line">
            <a:avLst/>
          </a:prstGeom>
          <a:ln cap="rnd" w="57150">
            <a:solidFill>
              <a:srgbClr val="86C7E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0">
            <a:off x="-179299" y="9979101"/>
            <a:ext cx="18646597" cy="498399"/>
          </a:xfrm>
          <a:prstGeom prst="rect">
            <a:avLst/>
          </a:prstGeom>
          <a:solidFill>
            <a:srgbClr val="1836B2"/>
          </a:solidFill>
        </p:spPr>
      </p:sp>
      <p:sp>
        <p:nvSpPr>
          <p:cNvPr name="TextBox 28" id="28"/>
          <p:cNvSpPr txBox="true"/>
          <p:nvPr/>
        </p:nvSpPr>
        <p:spPr>
          <a:xfrm rot="0">
            <a:off x="1064514" y="5703411"/>
            <a:ext cx="2698394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Customer places an order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29659" y="5703411"/>
            <a:ext cx="2698394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updates the consultation appointment to clarify details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94803" y="5703411"/>
            <a:ext cx="2698394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accepts the guarantee order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59947" y="5703411"/>
            <a:ext cx="2698394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Woodworker confirms completion of the repair process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25091" y="5703411"/>
            <a:ext cx="2698394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Customer confirms receipt of the product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19020" y="723551"/>
            <a:ext cx="444996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Phase 4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661646" y="0"/>
            <a:ext cx="10736190" cy="9297057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37103" t="0" r="-3710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12015079" y="7254021"/>
            <a:ext cx="7156403" cy="4086071"/>
          </a:xfrm>
          <a:custGeom>
            <a:avLst/>
            <a:gdLst/>
            <a:ahLst/>
            <a:cxnLst/>
            <a:rect r="r" b="b" t="t" l="l"/>
            <a:pathLst>
              <a:path h="4086071" w="7156403">
                <a:moveTo>
                  <a:pt x="7156403" y="0"/>
                </a:moveTo>
                <a:lnTo>
                  <a:pt x="0" y="0"/>
                </a:lnTo>
                <a:lnTo>
                  <a:pt x="0" y="4086071"/>
                </a:lnTo>
                <a:lnTo>
                  <a:pt x="7156403" y="4086071"/>
                </a:lnTo>
                <a:lnTo>
                  <a:pt x="715640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1576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55789" y="2051103"/>
            <a:ext cx="6178768" cy="120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9"/>
              </a:lnSpc>
            </a:pPr>
            <a:r>
              <a:rPr lang="en-US" b="true" sz="7925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Limitation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087779"/>
            <a:ext cx="9632946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Still using the sign function with a mouse and drawing signatures on mobile devices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System architect</a:t>
            </a:r>
            <a:r>
              <a:rPr lang="en-US" sz="3000" u="non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ure without load balancing. Currently using only 1 server to handle all requests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661646" y="0"/>
            <a:ext cx="10736190" cy="9297057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37103" t="0" r="-3710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12015079" y="7254021"/>
            <a:ext cx="7156403" cy="4086071"/>
          </a:xfrm>
          <a:custGeom>
            <a:avLst/>
            <a:gdLst/>
            <a:ahLst/>
            <a:cxnLst/>
            <a:rect r="r" b="b" t="t" l="l"/>
            <a:pathLst>
              <a:path h="4086071" w="7156403">
                <a:moveTo>
                  <a:pt x="7156403" y="0"/>
                </a:moveTo>
                <a:lnTo>
                  <a:pt x="0" y="0"/>
                </a:lnTo>
                <a:lnTo>
                  <a:pt x="0" y="4086071"/>
                </a:lnTo>
                <a:lnTo>
                  <a:pt x="7156403" y="4086071"/>
                </a:lnTo>
                <a:lnTo>
                  <a:pt x="715640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1576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55789" y="1180414"/>
            <a:ext cx="6178768" cy="120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9"/>
              </a:lnSpc>
            </a:pPr>
            <a:r>
              <a:rPr lang="en-US" b="true" sz="7925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Future plan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861779"/>
            <a:ext cx="9632946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Train AI to recommend design ideas, products, woodworkers based on users’ preferences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Allow </a:t>
            </a:r>
            <a:r>
              <a:rPr lang="en-US" sz="3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users to edit 3D models directly in-browser and interactively preview 3D product renders for enhanced visualization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</a:t>
            </a:r>
            <a:r>
              <a:rPr lang="en-US" sz="3000" u="non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rant woodworkers honorary titles once the platform has built sufficient credibility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Enable AR (Augmented Reality) preview for furniture placement in users' real-life spaces via mobile devices for better purchase confidence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7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186009"/>
            <a:ext cx="18288000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</a:t>
            </a: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ank you so </a:t>
            </a: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</a:t>
            </a: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uch</a:t>
            </a: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lis</a:t>
            </a: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</a:t>
            </a: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en</a:t>
            </a: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</a:t>
            </a: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ng to o</a:t>
            </a: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</a:t>
            </a: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</a:t>
            </a: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9200" strike="noStrike" u="non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presentation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1131597" y="7254021"/>
            <a:ext cx="7156403" cy="4086071"/>
          </a:xfrm>
          <a:custGeom>
            <a:avLst/>
            <a:gdLst/>
            <a:ahLst/>
            <a:cxnLst/>
            <a:rect r="r" b="b" t="t" l="l"/>
            <a:pathLst>
              <a:path h="4086071" w="7156403">
                <a:moveTo>
                  <a:pt x="7156403" y="0"/>
                </a:moveTo>
                <a:lnTo>
                  <a:pt x="0" y="0"/>
                </a:lnTo>
                <a:lnTo>
                  <a:pt x="0" y="4086071"/>
                </a:lnTo>
                <a:lnTo>
                  <a:pt x="7156403" y="4086071"/>
                </a:lnTo>
                <a:lnTo>
                  <a:pt x="715640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1576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254021"/>
            <a:ext cx="7156403" cy="4086071"/>
          </a:xfrm>
          <a:custGeom>
            <a:avLst/>
            <a:gdLst/>
            <a:ahLst/>
            <a:cxnLst/>
            <a:rect r="r" b="b" t="t" l="l"/>
            <a:pathLst>
              <a:path h="4086071" w="7156403">
                <a:moveTo>
                  <a:pt x="0" y="0"/>
                </a:moveTo>
                <a:lnTo>
                  <a:pt x="7156403" y="0"/>
                </a:lnTo>
                <a:lnTo>
                  <a:pt x="7156403" y="4086071"/>
                </a:lnTo>
                <a:lnTo>
                  <a:pt x="0" y="40860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1576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DAGmFn_XIo0</dc:identifier>
  <dcterms:modified xsi:type="dcterms:W3CDTF">2011-08-01T06:04:30Z</dcterms:modified>
  <cp:revision>1</cp:revision>
  <dc:title>Bài thuyết trình Lên ý tưởng Kế hoạch Dự án Công ty Xanh dương và Tím Doanh nghiệp Thông thường </dc:title>
</cp:coreProperties>
</file>